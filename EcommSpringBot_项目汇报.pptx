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7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4754880"/>
            <a:ext cx="1097280" cy="10972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mbria"/>
              </a:defRPr>
            </a:pPr>
            <a:r>
              <a:t>EcommSpringBot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788920"/>
            <a:ext cx="2286000" cy="4838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CECF2"/>
                </a:solidFill>
                <a:latin typeface="Calibri"/>
              </a:defRPr>
            </a:pPr>
            <a:r>
              <a:t>基于 Spring AI Alibaba 的智能电商客服助手系统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D6E6"/>
                </a:solidFill>
                <a:latin typeface="Calibri"/>
              </a:defRPr>
            </a:pPr>
            <a:r>
              <a:t>集订单管理、知识问答、多层记忆、人机协同于一体的</a:t>
            </a:r>
            <a:br/>
            <a:r>
              <a:t>企业级电商智能助手平台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C4D6"/>
                </a:solidFill>
                <a:latin typeface="Calibri"/>
              </a:defRPr>
            </a:pPr>
            <a:r>
              <a:t>2026年7月  ·  项目汇报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EcommSpringBot 是什么？能做什么？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002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C7293"/>
                </a:solidFill>
                <a:latin typeface="Cambria"/>
              </a:defRPr>
            </a:pPr>
            <a:r>
              <a:t>订单智能管理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支持订单查询、取消、创建等</a:t>
            </a:r>
            <a:br/>
            <a:r>
              <a:t>操作，通过自然语言即可完成</a:t>
            </a:r>
            <a:br/>
            <a:r>
              <a:t>电商订单全生命周期管理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83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C7293"/>
                </a:solidFill>
                <a:latin typeface="Cambria"/>
              </a:defRPr>
            </a:pPr>
            <a:r>
              <a:t>知识库智能问答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内置 7 大领域知识库，涵盖</a:t>
            </a:r>
            <a:br/>
            <a:r>
              <a:t>HR、财务、电商规则、客服等</a:t>
            </a:r>
            <a:br/>
            <a:r>
              <a:t>场景，RAG 检索精准回答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49039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C7293"/>
                </a:solidFill>
                <a:latin typeface="Cambria"/>
              </a:defRPr>
            </a:pPr>
            <a:r>
              <a:t>多层记忆系统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4340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短期记忆（Redis）+ 长期记忆</a:t>
            </a:r>
            <a:br/>
            <a:r>
              <a:t>（Milvus），自动提取和整合</a:t>
            </a:r>
            <a:br/>
            <a:r>
              <a:t>用户画像、偏好与历史事实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9319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C7293"/>
                </a:solidFill>
                <a:latin typeface="Cambria"/>
              </a:defRPr>
            </a:pPr>
            <a:r>
              <a:t>人机协同审批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4340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敏感操作（退款、取消）触发</a:t>
            </a:r>
            <a:br/>
            <a:r>
              <a:t>人工审批节点，StateGraph</a:t>
            </a:r>
            <a:br/>
            <a:r>
              <a:t>支持中断-恢复的人机交互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621792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6217920"/>
            <a:ext cx="109728" cy="10972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11680" y="6217920"/>
            <a:ext cx="109728" cy="10972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68880" y="6217920"/>
            <a:ext cx="109728" cy="10972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核心技术栈一览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93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mbria"/>
              </a:defRPr>
            </a:pPr>
            <a:r>
              <a:t>AI &amp; 模型层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414016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19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Spring AI Alibaba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76148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26334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DashScope (Qwen)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10896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19" y="2980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text-embedding-v2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456432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19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qwen3-rerank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1554480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093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mbria"/>
              </a:defRPr>
            </a:pPr>
            <a:r>
              <a:t>基础设施层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414016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MySQL (业务数据)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2761488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6334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Redis (短期记忆)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3108960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980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Milvus (向量存储)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3456432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RocketMQ (消息)</a:t>
            </a:r>
          </a:p>
        </p:txBody>
      </p:sp>
      <p:sp>
        <p:nvSpPr>
          <p:cNvPr id="24" name="Oval 23"/>
          <p:cNvSpPr/>
          <p:nvPr/>
        </p:nvSpPr>
        <p:spPr>
          <a:xfrm>
            <a:off x="5074920" y="3803903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67588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Elasticsearch (追踪)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19" y="1554480"/>
            <a:ext cx="3200400" cy="502920"/>
          </a:xfrm>
          <a:prstGeom prst="roundRect">
            <a:avLst>
              <a:gd name="adj" fmla="val 15000"/>
            </a:avLst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16093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mbria"/>
              </a:defRPr>
            </a:pPr>
            <a:r>
              <a:t>框架与协议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414016"/>
            <a:ext cx="91440" cy="9144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59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Spring Boot 3.5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761488"/>
            <a:ext cx="91440" cy="9144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59" y="26334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MCP 协议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108960"/>
            <a:ext cx="91440" cy="9144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59" y="2980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StateGraph 编排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3456432"/>
            <a:ext cx="91440" cy="9144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332841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ReAct Agent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3803903"/>
            <a:ext cx="91440" cy="91440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59" y="367588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2332"/>
                </a:solidFill>
                <a:latin typeface="Calibri"/>
              </a:defRPr>
            </a:pPr>
            <a:r>
              <a:t>WebFlux / SSE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5486400"/>
            <a:ext cx="10195560" cy="241935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Java 17  ·  Spring Boot 3.5.7  ·  Spring AI 1.1.0  ·  Milvus 2.5  ·  Qwen (Plus / Max / Turbo)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核心模块架构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8 大模块组成微服务架构体系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17373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订单核心服务</a:t>
            </a:r>
            <a:br/>
            <a:r>
              <a:t>MySQL + MyBatis</a:t>
            </a:r>
            <a:br/>
            <a:r>
              <a:t>CRUD 订单管理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0020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:8081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0" y="17373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cmp-server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MCP 服务中间层</a:t>
            </a:r>
            <a:br/>
            <a:r>
              <a:t>WebFlux SSE</a:t>
            </a:r>
            <a:br/>
            <a:r>
              <a:t>工具暴露与代理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59" y="160020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74320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30175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cmp-sse-client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004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Agent 接入层</a:t>
            </a:r>
            <a:br/>
            <a:r>
              <a:t>ReAct Agent</a:t>
            </a:r>
            <a:br/>
            <a:r>
              <a:t>SSE + Redis 记忆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88036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:8888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74320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5120" y="30175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milvus-rag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Milvus RAG</a:t>
            </a:r>
            <a:br/>
            <a:r>
              <a:t>向量检索 + 重排序</a:t>
            </a:r>
            <a:br/>
            <a:r>
              <a:t>7 领域知识库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59" y="288036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:8086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02336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" y="42976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480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多层记忆库</a:t>
            </a:r>
            <a:br/>
            <a:r>
              <a:t>Redis + Milvus</a:t>
            </a:r>
            <a:br/>
            <a:r>
              <a:t>自动抽取整合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16052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lib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2336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0" y="42976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4805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订单 Agent</a:t>
            </a:r>
            <a:br/>
            <a:r>
              <a:t>StateGraph 编排</a:t>
            </a:r>
            <a:br/>
            <a:r>
              <a:t>人机协同审批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4159" y="416052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:8087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30352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80160" y="55778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mall-order-</a:t>
            </a:r>
            <a:br/>
            <a:r>
              <a:t>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760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可观测性</a:t>
            </a:r>
            <a:br/>
            <a:r>
              <a:t>RocketMQ 传输</a:t>
            </a:r>
            <a:br/>
            <a:r>
              <a:t>ES 追踪存储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544068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lib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5303520"/>
            <a:ext cx="4846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75120" y="55778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2332"/>
                </a:solidFill>
                <a:latin typeface="Cambria"/>
              </a:defRPr>
            </a:pPr>
            <a:r>
              <a:t>skill-agent-</a:t>
            </a:r>
            <a:br/>
            <a:r>
              <a:t>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760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Skill Agent</a:t>
            </a:r>
            <a:br/>
            <a:r>
              <a:t>技能系统演示</a:t>
            </a:r>
            <a:br/>
            <a:r>
              <a:t>Arxiv / Web 搜索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59" y="5440680"/>
            <a:ext cx="731520" cy="274320"/>
          </a:xfrm>
          <a:prstGeom prst="roundRect">
            <a:avLst>
              <a:gd name="adj" fmla="val 30000"/>
            </a:avLst>
          </a:prstGeom>
          <a:solidFill>
            <a:srgbClr val="CC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C7293"/>
                </a:solidFill>
                <a:latin typeface="Calibri"/>
              </a:defRPr>
            </a:pPr>
            <a:r>
              <a:t>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AI Agent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基于 StateGraph 的智能编排引擎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50876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C7293"/>
                </a:solidFill>
                <a:latin typeface="Calibri"/>
              </a:defRPr>
            </a:pPr>
            <a:r>
              <a:t>路径一：知识库命中 → 完整 RAG + LLM 生成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1508760"/>
            <a:ext cx="109728" cy="109728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路径二：知识库未命中 → 快捷应答</a:t>
            </a:r>
          </a:p>
        </p:txBody>
      </p:sp>
      <p:sp>
        <p:nvSpPr>
          <p:cNvPr id="8" name="Oval 7"/>
          <p:cNvSpPr/>
          <p:nvPr/>
        </p:nvSpPr>
        <p:spPr>
          <a:xfrm>
            <a:off x="8412480" y="150876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9A826"/>
                </a:solidFill>
                <a:latin typeface="Calibri"/>
              </a:defRPr>
            </a:pPr>
            <a:r>
              <a:t>路径三：敏感操作 → 人工审批介入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74519"/>
            <a:ext cx="10195560" cy="241935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Planner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194559" y="2779776"/>
            <a:ext cx="274320" cy="11887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Action</a:t>
            </a:r>
            <a:br/>
            <a:r>
              <a:t>Runner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799" y="2779776"/>
            <a:ext cx="274320" cy="11887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Prompt</a:t>
            </a:r>
            <a:br/>
            <a:r>
              <a:t>Builder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779776"/>
            <a:ext cx="274320" cy="11887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LLM</a:t>
            </a:r>
            <a:br/>
            <a:r>
              <a:t>Node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55280" y="2779776"/>
            <a:ext cx="274320" cy="11887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Human</a:t>
            </a:r>
            <a:br/>
            <a:r>
              <a:t>Node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75520" y="2779776"/>
            <a:ext cx="274320" cy="11887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0" y="237744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56032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mbria"/>
              </a:defRPr>
            </a:pPr>
            <a:r>
              <a:t>Answer</a:t>
            </a:r>
            <a:br/>
            <a:r>
              <a:t>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意图解析</a:t>
            </a:r>
            <a:br/>
            <a:r>
              <a:t>策略规划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工具执行</a:t>
            </a:r>
            <a:br/>
            <a:r>
              <a:t>(RAG/Tool/</a:t>
            </a:r>
            <a:br/>
            <a:r>
              <a:t>Memory)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上下文组装</a:t>
            </a:r>
            <a:br/>
            <a:r>
              <a:t>提示构建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大模型生成</a:t>
            </a:r>
            <a:br/>
            <a:r>
              <a:t>(qwen-plus)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人工审批</a:t>
            </a:r>
            <a:br/>
            <a:r>
              <a:t>中断-恢复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61188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结果输出</a:t>
            </a:r>
            <a:br/>
            <a:r>
              <a:t>记忆持久化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完整流程: START → Planner → ActionRunner → PromptBuilder → LLM → [Human] → Answer →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RAG 知识检索流程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两阶段检索 + 重排序，确保回答精准可控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00200"/>
            <a:ext cx="101955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76479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673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332"/>
                </a:solidFill>
                <a:latin typeface="Cambria"/>
              </a:defRPr>
            </a:pPr>
            <a:r>
              <a:t>文档摄入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94767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PDF 上传 / 批量导入</a:t>
            </a:r>
            <a:br/>
            <a:r>
              <a:t>7 个内置领域知识库</a:t>
            </a:r>
            <a:br/>
            <a:r>
              <a:t>HR · 财务 · 电商 · 物流 · 客服 · 技术 · AI</a:t>
            </a:r>
          </a:p>
        </p:txBody>
      </p:sp>
      <p:sp>
        <p:nvSpPr>
          <p:cNvPr id="8" name="Down Arrow 7"/>
          <p:cNvSpPr/>
          <p:nvPr/>
        </p:nvSpPr>
        <p:spPr>
          <a:xfrm>
            <a:off x="6121908" y="2359152"/>
            <a:ext cx="146304" cy="265176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606040"/>
            <a:ext cx="101955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277063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332"/>
                </a:solidFill>
                <a:latin typeface="Cambria"/>
              </a:defRPr>
            </a:pPr>
            <a:r>
              <a:t>文本预处理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95351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PDF 清洗去噪</a:t>
            </a:r>
            <a:br/>
            <a:r>
              <a:t>章节目录级切割</a:t>
            </a:r>
            <a:br/>
            <a:r>
              <a:t>250 Token 滑动分块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121908" y="3364992"/>
            <a:ext cx="146304" cy="265176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611880"/>
            <a:ext cx="101955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377647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685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332"/>
                </a:solidFill>
                <a:latin typeface="Cambria"/>
              </a:defRPr>
            </a:pPr>
            <a:r>
              <a:t>向量化存储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95935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text-embedding-v2</a:t>
            </a:r>
            <a:br/>
            <a:r>
              <a:t>1536 维向量</a:t>
            </a:r>
            <a:br/>
            <a:r>
              <a:t>Milvus 集合 mall_rag_v2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121908" y="4370832"/>
            <a:ext cx="146304" cy="265176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4617720"/>
            <a:ext cx="101955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25880" y="478231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690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332"/>
                </a:solidFill>
                <a:latin typeface="Cambria"/>
              </a:defRPr>
            </a:pPr>
            <a:r>
              <a:t>检索 + 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6519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余弦相似度粗筛</a:t>
            </a:r>
            <a:br/>
            <a:r>
              <a:t>qwen3-rerank 精细排序</a:t>
            </a:r>
            <a:br/>
            <a:r>
              <a:t>元数据过滤（角色/部门）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121908" y="5376672"/>
            <a:ext cx="146304" cy="265176"/>
          </a:xfrm>
          <a:prstGeom prst="down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5623560"/>
            <a:ext cx="101955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578815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mbria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696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332"/>
                </a:solidFill>
                <a:latin typeface="Cambria"/>
              </a:defRPr>
            </a:pPr>
            <a:r>
              <a:t>答案生成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971032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qwen-plus 生成</a:t>
            </a:r>
            <a:br/>
            <a:r>
              <a:t>防幻觉严格提示词</a:t>
            </a:r>
            <a:br/>
            <a:r>
              <a:t>引用来源可追溯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97880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个领域  ·  250 Token 分块  ·  1536 维向量  ·  余弦 + 重排序双阶段检索  ·  防幻觉提示词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2332"/>
                </a:solidFill>
                <a:latin typeface="Cambria"/>
              </a:defRPr>
            </a:pPr>
            <a:r>
              <a:t>多层记忆系统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短期 + 长期双层记忆，自动抽取与整合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709160" cy="3474720"/>
          </a:xfrm>
          <a:prstGeom prst="roundRect">
            <a:avLst>
              <a:gd name="adj" fmla="val 5000"/>
            </a:avLst>
          </a:prstGeom>
          <a:solidFill>
            <a:srgbClr val="F8FD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4160520" cy="45720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39696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mbria"/>
              </a:defRPr>
            </a:pPr>
            <a:r>
              <a:t>短期记忆  ·  Redis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2971800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880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存储最近的对话上下文</a:t>
            </a:r>
          </a:p>
        </p:txBody>
      </p:sp>
      <p:sp>
        <p:nvSpPr>
          <p:cNvPr id="9" name="Oval 8"/>
          <p:cNvSpPr/>
          <p:nvPr/>
        </p:nvSpPr>
        <p:spPr>
          <a:xfrm>
            <a:off x="1554480" y="3355848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2644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支持 TTL 自动过期策略</a:t>
            </a:r>
          </a:p>
        </p:txBody>
      </p:sp>
      <p:sp>
        <p:nvSpPr>
          <p:cNvPr id="11" name="Oval 10"/>
          <p:cNvSpPr/>
          <p:nvPr/>
        </p:nvSpPr>
        <p:spPr>
          <a:xfrm>
            <a:off x="1554480" y="3739896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36484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默认 7 天保留周期</a:t>
            </a:r>
          </a:p>
        </p:txBody>
      </p:sp>
      <p:sp>
        <p:nvSpPr>
          <p:cNvPr id="13" name="Oval 12"/>
          <p:cNvSpPr/>
          <p:nvPr/>
        </p:nvSpPr>
        <p:spPr>
          <a:xfrm>
            <a:off x="1554480" y="4123944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4032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Redisson 客户端连接池</a:t>
            </a:r>
          </a:p>
        </p:txBody>
      </p:sp>
      <p:sp>
        <p:nvSpPr>
          <p:cNvPr id="15" name="Oval 14"/>
          <p:cNvSpPr/>
          <p:nvPr/>
        </p:nvSpPr>
        <p:spPr>
          <a:xfrm>
            <a:off x="1554480" y="4507992"/>
            <a:ext cx="91440" cy="914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4416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消息达到阈值自动触发整合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4709160" cy="3474720"/>
          </a:xfrm>
          <a:prstGeom prst="roundRect">
            <a:avLst>
              <a:gd name="adj" fmla="val 5000"/>
            </a:avLst>
          </a:prstGeom>
          <a:solidFill>
            <a:srgbClr val="F8FD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2103120"/>
            <a:ext cx="4160520" cy="457200"/>
          </a:xfrm>
          <a:prstGeom prst="roundRect">
            <a:avLst>
              <a:gd name="adj" fmla="val 15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139696"/>
            <a:ext cx="4160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2332"/>
                </a:solidFill>
                <a:latin typeface="Cambria"/>
              </a:defRPr>
            </a:pPr>
            <a:r>
              <a:t>长期记忆  ·  Milvus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297180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2880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用户画像 (User Profile)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335584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2644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事实记忆 (Facts)</a:t>
            </a:r>
          </a:p>
        </p:txBody>
      </p:sp>
      <p:sp>
        <p:nvSpPr>
          <p:cNvPr id="24" name="Oval 23"/>
          <p:cNvSpPr/>
          <p:nvPr/>
        </p:nvSpPr>
        <p:spPr>
          <a:xfrm>
            <a:off x="7040880" y="3739896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6484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对话摘要 (Summaries)</a:t>
            </a:r>
          </a:p>
        </p:txBody>
      </p:sp>
      <p:sp>
        <p:nvSpPr>
          <p:cNvPr id="26" name="Oval 25"/>
          <p:cNvSpPr/>
          <p:nvPr/>
        </p:nvSpPr>
        <p:spPr>
          <a:xfrm>
            <a:off x="7040880" y="4123944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032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正则 + LLM 两阶段抽取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0" y="4507992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41655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A2332"/>
                </a:solidFill>
                <a:latin typeface="Calibri"/>
              </a:defRPr>
            </a:pPr>
            <a:r>
              <a:t>定时自动整合 (默认 5 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623560"/>
            <a:ext cx="10195560" cy="241935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760720"/>
            <a:ext cx="10195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记忆整合: 对话消息 → 阈值触发 (20条) / 定时触发 (5min) → 正则初筛 → LLM 结构化抽取 → Redis + Milvus 双写</a:t>
            </a:r>
          </a:p>
        </p:txBody>
      </p:sp>
      <p:sp>
        <p:nvSpPr>
          <p:cNvPr id="32" name="Left-Right Arrow 31"/>
          <p:cNvSpPr/>
          <p:nvPr/>
        </p:nvSpPr>
        <p:spPr>
          <a:xfrm>
            <a:off x="6195060" y="3291840"/>
            <a:ext cx="320040" cy="320040"/>
          </a:xfrm>
          <a:prstGeom prst="left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5020" y="374903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整合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7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mbria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2286000" cy="483870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ECDC4"/>
                </a:solidFill>
                <a:latin typeface="Cambria"/>
              </a:defRPr>
            </a:pPr>
            <a:r>
              <a:t>已实现能力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Spring AI Alibaba + DashScope 多模型集成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97180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MCP 协议工具暴露与 Agent 调用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38328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StateGraph 智能编排 + 人机协同审批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79476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Milvus 向量 RAG + 重排序双阶段检索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20624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Redis + Milvus 多层记忆自动管理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4617720"/>
            <a:ext cx="109728" cy="109728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RocketMQ + ES 全链路可观测追踪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9A826"/>
                </a:solidFill>
                <a:latin typeface="Cambria"/>
              </a:defRPr>
            </a:pPr>
            <a:r>
              <a:t>未来规划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56032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多 Agent 协作与对话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297180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Skill 技能市场扩展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338328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多模态支持（图片理解）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379476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A/B 评估框架完善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420624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生产级部署与监控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4617720"/>
            <a:ext cx="109728" cy="109728"/>
          </a:xfrm>
          <a:prstGeom prst="ellipse">
            <a:avLst/>
          </a:prstGeom>
          <a:solidFill>
            <a:srgbClr val="F9A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开放 API 与插件生态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943600"/>
            <a:ext cx="9144000" cy="241935000"/>
          </a:xfrm>
          <a:prstGeom prst="rect">
            <a:avLst/>
          </a:prstGeom>
          <a:solidFill>
            <a:srgbClr val="07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C4D6"/>
                </a:solidFill>
                <a:latin typeface="Calibri"/>
              </a:defRPr>
            </a:pPr>
            <a:r>
              <a:t>EcommSpringBot  ·  基于 Spring AI Alibaba 的企业级智能电商助手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